
<file path=[Content_Types].xml><?xml version="1.0" encoding="utf-8"?>
<Types xmlns="http://schemas.openxmlformats.org/package/2006/content-types">
  <Default Extension="jfif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292" r:id="rId5"/>
    <p:sldId id="299" r:id="rId6"/>
    <p:sldId id="297" r:id="rId7"/>
    <p:sldId id="302" r:id="rId8"/>
    <p:sldId id="261" r:id="rId9"/>
    <p:sldId id="312" r:id="rId10"/>
    <p:sldId id="313" r:id="rId11"/>
    <p:sldId id="298" r:id="rId12"/>
    <p:sldId id="314" r:id="rId13"/>
    <p:sldId id="308" r:id="rId14"/>
    <p:sldId id="309" r:id="rId15"/>
    <p:sldId id="310" r:id="rId16"/>
    <p:sldId id="315" r:id="rId17"/>
    <p:sldId id="317" r:id="rId18"/>
    <p:sldId id="319" r:id="rId19"/>
    <p:sldId id="318" r:id="rId20"/>
    <p:sldId id="311" r:id="rId21"/>
    <p:sldId id="289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4400"/>
    <a:srgbClr val="446992"/>
    <a:srgbClr val="AEC2D8"/>
    <a:srgbClr val="98432A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18" autoAdjust="0"/>
    <p:restoredTop sz="94839" autoAdjust="0"/>
  </p:normalViewPr>
  <p:slideViewPr>
    <p:cSldViewPr snapToGrid="0" showGuides="1">
      <p:cViewPr varScale="1">
        <p:scale>
          <a:sx n="117" d="100"/>
          <a:sy n="117" d="100"/>
        </p:scale>
        <p:origin x="120" y="456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0CF20C-6BCC-41A4-8C16-5A346425718D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679C-80C7-4E7D-9614-ABA41C5B28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681593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CE773-CF0A-131A-8BAA-2490120B2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F28F81-509F-7109-6486-351AEA8A9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F4146-ED39-39E1-2E15-F69F396F2B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94D290-8C6F-F645-1867-694962F361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11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0715569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18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181820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8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61204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E820F9CA-E84D-E159-524A-398712EC6AFE}"/>
              </a:ext>
            </a:extLst>
          </p:cNvPr>
          <p:cNvGrpSpPr/>
          <p:nvPr userDrawn="1"/>
        </p:nvGrpSpPr>
        <p:grpSpPr>
          <a:xfrm>
            <a:off x="879765" y="-10376"/>
            <a:ext cx="10794247" cy="1864808"/>
            <a:chOff x="879765" y="-10376"/>
            <a:chExt cx="10794247" cy="1864808"/>
          </a:xfrm>
        </p:grpSpPr>
        <p:sp>
          <p:nvSpPr>
            <p:cNvPr id="12" name="Freeform: Shape 12">
              <a:extLst>
                <a:ext uri="{FF2B5EF4-FFF2-40B4-BE49-F238E27FC236}">
                  <a16:creationId xmlns:a16="http://schemas.microsoft.com/office/drawing/2014/main" id="{7674207A-3643-0D40-E3B5-F11FCACBAA74}"/>
                </a:ext>
              </a:extLst>
            </p:cNvPr>
            <p:cNvSpPr/>
            <p:nvPr/>
          </p:nvSpPr>
          <p:spPr>
            <a:xfrm>
              <a:off x="8893126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9619B847-88FE-63C2-96AC-161C08F5934F}"/>
                </a:ext>
              </a:extLst>
            </p:cNvPr>
            <p:cNvSpPr/>
            <p:nvPr/>
          </p:nvSpPr>
          <p:spPr>
            <a:xfrm>
              <a:off x="5985740" y="345168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228172F9-6711-D31B-2F7B-A4ECDEAB360C}"/>
                </a:ext>
              </a:extLst>
            </p:cNvPr>
            <p:cNvSpPr/>
            <p:nvPr/>
          </p:nvSpPr>
          <p:spPr>
            <a:xfrm>
              <a:off x="5255120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1732E38F-F657-48F0-5783-63C7EDB52F87}"/>
                </a:ext>
              </a:extLst>
            </p:cNvPr>
            <p:cNvSpPr/>
            <p:nvPr/>
          </p:nvSpPr>
          <p:spPr>
            <a:xfrm>
              <a:off x="6710252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0" name="Freeform: Shape 12">
              <a:extLst>
                <a:ext uri="{FF2B5EF4-FFF2-40B4-BE49-F238E27FC236}">
                  <a16:creationId xmlns:a16="http://schemas.microsoft.com/office/drawing/2014/main" id="{601F8F38-CEFA-8374-19C9-69BA4F7D10DF}"/>
                </a:ext>
              </a:extLst>
            </p:cNvPr>
            <p:cNvSpPr/>
            <p:nvPr/>
          </p:nvSpPr>
          <p:spPr>
            <a:xfrm>
              <a:off x="1610385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11" name="Freeform 9">
              <a:extLst>
                <a:ext uri="{FF2B5EF4-FFF2-40B4-BE49-F238E27FC236}">
                  <a16:creationId xmlns:a16="http://schemas.microsoft.com/office/drawing/2014/main" id="{0659428E-002A-3B5E-D9E8-A2B206826D40}"/>
                </a:ext>
              </a:extLst>
            </p:cNvPr>
            <p:cNvSpPr/>
            <p:nvPr/>
          </p:nvSpPr>
          <p:spPr>
            <a:xfrm>
              <a:off x="879765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3F6BB30-EA63-53B6-1493-0B0220BC1FF8}"/>
                </a:ext>
              </a:extLst>
            </p:cNvPr>
            <p:cNvSpPr/>
            <p:nvPr/>
          </p:nvSpPr>
          <p:spPr>
            <a:xfrm>
              <a:off x="2336512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3B6E5B6F-28D6-E7F3-B009-0B5623E38F22}"/>
                </a:ext>
              </a:extLst>
            </p:cNvPr>
            <p:cNvSpPr/>
            <p:nvPr/>
          </p:nvSpPr>
          <p:spPr>
            <a:xfrm>
              <a:off x="8160084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817D92F-B8AA-2300-DC90-9AA1D5E54408}"/>
                </a:ext>
              </a:extLst>
            </p:cNvPr>
            <p:cNvSpPr/>
            <p:nvPr/>
          </p:nvSpPr>
          <p:spPr>
            <a:xfrm>
              <a:off x="9615216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2">
              <a:extLst>
                <a:ext uri="{FF2B5EF4-FFF2-40B4-BE49-F238E27FC236}">
                  <a16:creationId xmlns:a16="http://schemas.microsoft.com/office/drawing/2014/main" id="{F40AC1C2-6632-AEFE-E7DF-2E1BB06D857A}"/>
                </a:ext>
              </a:extLst>
            </p:cNvPr>
            <p:cNvSpPr/>
            <p:nvPr/>
          </p:nvSpPr>
          <p:spPr>
            <a:xfrm>
              <a:off x="10342958" y="32052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2487168"/>
            <a:ext cx="4572000" cy="33832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7920" y="2487168"/>
            <a:ext cx="5029200" cy="33832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78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029200" cy="2743200"/>
          </a:xfrm>
        </p:spPr>
        <p:txBody>
          <a:bodyPr anchor="t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pic>
        <p:nvPicPr>
          <p:cNvPr id="10" name="Picture Placeholder 31">
            <a:extLst>
              <a:ext uri="{FF2B5EF4-FFF2-40B4-BE49-F238E27FC236}">
                <a16:creationId xmlns:a16="http://schemas.microsoft.com/office/drawing/2014/main" id="{373D33A6-83B0-5538-2873-8856E4E60D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accent5">
              <a:alpha val="30000"/>
            </a:schemeClr>
          </a:solidFill>
        </p:spPr>
      </p:pic>
      <p:sp>
        <p:nvSpPr>
          <p:cNvPr id="7" name="Content placeholder 47">
            <a:extLst>
              <a:ext uri="{FF2B5EF4-FFF2-40B4-BE49-F238E27FC236}">
                <a16:creationId xmlns:a16="http://schemas.microsoft.com/office/drawing/2014/main" id="{3944D979-8121-82AA-A130-38072F1EA83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5" name="Freeform: Shape 25">
            <a:extLst>
              <a:ext uri="{FF2B5EF4-FFF2-40B4-BE49-F238E27FC236}">
                <a16:creationId xmlns:a16="http://schemas.microsoft.com/office/drawing/2014/main" id="{8A1DBD66-3066-DF70-EF94-95DF0D7A6503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D2CC929C-40BF-4EF5-7910-7F657CAF8CA9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66E94398-47F0-267C-6791-5C30B1CEF496}"/>
              </a:ext>
            </a:extLst>
          </p:cNvPr>
          <p:cNvCxnSpPr/>
          <p:nvPr userDrawn="1"/>
        </p:nvCxnSpPr>
        <p:spPr>
          <a:xfrm>
            <a:off x="1142663" y="2282891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777926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393192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317990C-ED42-30BE-0501-F9C5B4A48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931920" cy="26517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AC62875-1B1B-E814-6549-162A8DBF8929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5745002" y="0"/>
            <a:ext cx="6446999" cy="6858000"/>
          </a:xfrm>
          <a:custGeom>
            <a:avLst/>
            <a:gdLst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03802" y="480395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reeform: Shape 19">
            <a:extLst>
              <a:ext uri="{FF2B5EF4-FFF2-40B4-BE49-F238E27FC236}">
                <a16:creationId xmlns:a16="http://schemas.microsoft.com/office/drawing/2014/main" id="{9D307BA6-8A60-85D7-CC8B-894256DC4B90}"/>
              </a:ext>
            </a:extLst>
          </p:cNvPr>
          <p:cNvSpPr/>
          <p:nvPr userDrawn="1"/>
        </p:nvSpPr>
        <p:spPr>
          <a:xfrm>
            <a:off x="8517470" y="2248218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>
            <a:off x="9578882" y="460803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>
            <a:off x="9522496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>
            <a:off x="11034052" y="3709992"/>
            <a:ext cx="117318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1773936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34C76-4814-6AFA-CEFD-F82B9ED9B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42F254A-B4C7-D072-FEB9-22F9A2B0CA64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475488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DBF4DF-D0B4-1DA6-0271-5D4033A9C19C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47">
            <a:extLst>
              <a:ext uri="{FF2B5EF4-FFF2-40B4-BE49-F238E27FC236}">
                <a16:creationId xmlns:a16="http://schemas.microsoft.com/office/drawing/2014/main" id="{117BCD91-6BBA-AACD-3424-C3A4E5C1AB1D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914400" y="539496"/>
            <a:ext cx="5025207" cy="577900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/>
              <a:t>Click icon to add picture</a:t>
            </a:r>
            <a:endParaRPr lang="en-US" altLang="zh-CN" noProof="0" dirty="0"/>
          </a:p>
        </p:txBody>
      </p:sp>
      <p:pic>
        <p:nvPicPr>
          <p:cNvPr id="7" name="Shape 33">
            <a:extLst>
              <a:ext uri="{FF2B5EF4-FFF2-40B4-BE49-F238E27FC236}">
                <a16:creationId xmlns:a16="http://schemas.microsoft.com/office/drawing/2014/main" id="{78B6A20E-2402-E586-7E92-A2C0D0B8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2010" y="4038403"/>
            <a:ext cx="1438713" cy="1645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Freeform: Shape 11">
            <a:extLst>
              <a:ext uri="{FF2B5EF4-FFF2-40B4-BE49-F238E27FC236}">
                <a16:creationId xmlns:a16="http://schemas.microsoft.com/office/drawing/2014/main" id="{20E24AA2-A4D8-FFB3-C801-0E57990B8CB6}"/>
              </a:ext>
            </a:extLst>
          </p:cNvPr>
          <p:cNvSpPr/>
          <p:nvPr userDrawn="1"/>
        </p:nvSpPr>
        <p:spPr>
          <a:xfrm>
            <a:off x="1360235" y="5541405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1FEC53F3-5030-5BCF-54CA-ABB14457C073}"/>
              </a:ext>
            </a:extLst>
          </p:cNvPr>
          <p:cNvSpPr/>
          <p:nvPr userDrawn="1"/>
        </p:nvSpPr>
        <p:spPr>
          <a:xfrm>
            <a:off x="5429027" y="393334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86721E85-C7DE-A05F-D33D-97CAF161E33A}"/>
              </a:ext>
            </a:extLst>
          </p:cNvPr>
          <p:cNvSpPr/>
          <p:nvPr userDrawn="1"/>
        </p:nvSpPr>
        <p:spPr>
          <a:xfrm>
            <a:off x="0" y="2860787"/>
            <a:ext cx="2004570" cy="3676532"/>
          </a:xfrm>
          <a:custGeom>
            <a:avLst/>
            <a:gdLst>
              <a:gd name="connsiteX0" fmla="*/ 417538 w 2004570"/>
              <a:gd name="connsiteY0" fmla="*/ 0 h 3676532"/>
              <a:gd name="connsiteX1" fmla="*/ 2004570 w 2004570"/>
              <a:gd name="connsiteY1" fmla="*/ 925683 h 3676532"/>
              <a:gd name="connsiteX2" fmla="*/ 2004570 w 2004570"/>
              <a:gd name="connsiteY2" fmla="*/ 2763949 h 3676532"/>
              <a:gd name="connsiteX3" fmla="*/ 413202 w 2004570"/>
              <a:gd name="connsiteY3" fmla="*/ 3676532 h 3676532"/>
              <a:gd name="connsiteX4" fmla="*/ 0 w 2004570"/>
              <a:gd name="connsiteY4" fmla="*/ 3439338 h 3676532"/>
              <a:gd name="connsiteX5" fmla="*/ 0 w 2004570"/>
              <a:gd name="connsiteY5" fmla="*/ 24107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570" h="3676532">
                <a:moveTo>
                  <a:pt x="417538" y="0"/>
                </a:moveTo>
                <a:lnTo>
                  <a:pt x="2004570" y="925683"/>
                </a:lnTo>
                <a:lnTo>
                  <a:pt x="2004570" y="2763949"/>
                </a:lnTo>
                <a:lnTo>
                  <a:pt x="413202" y="3676532"/>
                </a:lnTo>
                <a:lnTo>
                  <a:pt x="0" y="3439338"/>
                </a:lnTo>
                <a:lnTo>
                  <a:pt x="0" y="2410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657773" y="5253270"/>
            <a:ext cx="1710765" cy="1621875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275432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FF81D2-C0B4-3B82-8DF6-D10CC07C44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6" y="3108960"/>
            <a:ext cx="4572000" cy="3108960"/>
          </a:xfrm>
        </p:spPr>
        <p:txBody>
          <a:bodyPr/>
          <a:lstStyle>
            <a:lvl1pPr marL="512064" indent="-512064"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800"/>
            </a:lvl2pPr>
            <a:lvl3pPr marL="1645920" indent="-512064">
              <a:buFont typeface="+mj-lt"/>
              <a:buAutoNum type="romanLcPeriod"/>
              <a:defRPr sz="1800"/>
            </a:lvl3pPr>
            <a:lvl4pPr marL="2194560" indent="-512064">
              <a:buFont typeface="+mj-lt"/>
              <a:buAutoNum type="arabicParenR"/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90F721-56C7-251D-948D-117696095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0" y="3108960"/>
            <a:ext cx="3017520" cy="310896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4E8A0-C02C-2322-50C1-50080A793F8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3465576" y="6217920"/>
            <a:ext cx="4114800" cy="365125"/>
          </a:xfr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2">
            <a:extLst>
              <a:ext uri="{FF2B5EF4-FFF2-40B4-BE49-F238E27FC236}">
                <a16:creationId xmlns:a16="http://schemas.microsoft.com/office/drawing/2014/main" id="{0750FD92-E143-4402-D455-30DC417CBDBE}"/>
              </a:ext>
            </a:extLst>
          </p:cNvPr>
          <p:cNvSpPr/>
          <p:nvPr userDrawn="1"/>
        </p:nvSpPr>
        <p:spPr>
          <a:xfrm>
            <a:off x="1198465" y="958947"/>
            <a:ext cx="1544735" cy="174369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B13E9E2-D67B-E75B-D60D-CE3782A4FC67}"/>
              </a:ext>
            </a:extLst>
          </p:cNvPr>
          <p:cNvSpPr/>
          <p:nvPr userDrawn="1"/>
        </p:nvSpPr>
        <p:spPr>
          <a:xfrm>
            <a:off x="326738" y="0"/>
            <a:ext cx="1544359" cy="1254845"/>
          </a:xfrm>
          <a:custGeom>
            <a:avLst/>
            <a:gdLst>
              <a:gd name="connsiteX0" fmla="*/ 0 w 1544359"/>
              <a:gd name="connsiteY0" fmla="*/ 0 h 1254845"/>
              <a:gd name="connsiteX1" fmla="*/ 1544359 w 1544359"/>
              <a:gd name="connsiteY1" fmla="*/ 0 h 1254845"/>
              <a:gd name="connsiteX2" fmla="*/ 1543519 w 1544359"/>
              <a:gd name="connsiteY2" fmla="*/ 822090 h 1254845"/>
              <a:gd name="connsiteX3" fmla="*/ 772206 w 1544359"/>
              <a:gd name="connsiteY3" fmla="*/ 1254845 h 1254845"/>
              <a:gd name="connsiteX4" fmla="*/ 0 w 1544359"/>
              <a:gd name="connsiteY4" fmla="*/ 822027 h 1254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4359" h="1254845">
                <a:moveTo>
                  <a:pt x="0" y="0"/>
                </a:moveTo>
                <a:lnTo>
                  <a:pt x="1544359" y="0"/>
                </a:lnTo>
                <a:lnTo>
                  <a:pt x="1543519" y="822090"/>
                </a:lnTo>
                <a:lnTo>
                  <a:pt x="772206" y="1254845"/>
                </a:lnTo>
                <a:lnTo>
                  <a:pt x="0" y="82202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Hexagon 21">
            <a:extLst>
              <a:ext uri="{FF2B5EF4-FFF2-40B4-BE49-F238E27FC236}">
                <a16:creationId xmlns:a16="http://schemas.microsoft.com/office/drawing/2014/main" id="{AA088CB3-68C2-8BF7-640B-511D7AD708D4}"/>
              </a:ext>
            </a:extLst>
          </p:cNvPr>
          <p:cNvSpPr/>
          <p:nvPr userDrawn="1"/>
        </p:nvSpPr>
        <p:spPr>
          <a:xfrm>
            <a:off x="2757266" y="2493385"/>
            <a:ext cx="1467568" cy="1305975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rgbClr val="D84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Hexagon 28">
            <a:extLst>
              <a:ext uri="{FF2B5EF4-FFF2-40B4-BE49-F238E27FC236}">
                <a16:creationId xmlns:a16="http://schemas.microsoft.com/office/drawing/2014/main" id="{E4EF439B-1CC3-CA39-B62A-E54F83ED70D2}"/>
              </a:ext>
            </a:extLst>
          </p:cNvPr>
          <p:cNvSpPr/>
          <p:nvPr userDrawn="1"/>
        </p:nvSpPr>
        <p:spPr>
          <a:xfrm>
            <a:off x="396269" y="251164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Hexagon 21">
            <a:extLst>
              <a:ext uri="{FF2B5EF4-FFF2-40B4-BE49-F238E27FC236}">
                <a16:creationId xmlns:a16="http://schemas.microsoft.com/office/drawing/2014/main" id="{A38FF139-88E9-67A9-6010-4EDFB851076B}"/>
              </a:ext>
            </a:extLst>
          </p:cNvPr>
          <p:cNvSpPr/>
          <p:nvPr userDrawn="1"/>
        </p:nvSpPr>
        <p:spPr>
          <a:xfrm>
            <a:off x="5150156" y="5261378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Hexagon 21">
            <a:extLst>
              <a:ext uri="{FF2B5EF4-FFF2-40B4-BE49-F238E27FC236}">
                <a16:creationId xmlns:a16="http://schemas.microsoft.com/office/drawing/2014/main" id="{99956147-4454-5EA6-FC9C-94C08EE35F28}"/>
              </a:ext>
            </a:extLst>
          </p:cNvPr>
          <p:cNvSpPr/>
          <p:nvPr userDrawn="1"/>
        </p:nvSpPr>
        <p:spPr>
          <a:xfrm>
            <a:off x="3948599" y="3206642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4" r:id="rId3"/>
    <p:sldLayoutId id="2147483670" r:id="rId4"/>
    <p:sldLayoutId id="2147483669" r:id="rId5"/>
    <p:sldLayoutId id="2147483655" r:id="rId6"/>
    <p:sldLayoutId id="2147483651" r:id="rId7"/>
    <p:sldLayoutId id="2147483662" r:id="rId8"/>
    <p:sldLayoutId id="2147483653" r:id="rId9"/>
    <p:sldLayoutId id="2147483663" r:id="rId10"/>
    <p:sldLayoutId id="2147483665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fif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fif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358284" cy="2743200"/>
          </a:xfrm>
        </p:spPr>
        <p:txBody>
          <a:bodyPr lIns="0" anchor="t" anchorCtr="0">
            <a:normAutofit/>
          </a:bodyPr>
          <a:lstStyle/>
          <a:p>
            <a:r>
              <a:rPr lang="en-US" altLang="zh-CN" dirty="0"/>
              <a:t>Capstone Project</a:t>
            </a:r>
            <a:endParaRPr lang="en-US" dirty="0"/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2C0CA6A3-5752-AD04-9C71-D3E8462A5932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34777" r="32444"/>
          <a:stretch>
            <a:fillRect/>
          </a:stretch>
        </p:blipFill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noFill/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</p:spPr>
        <p:txBody>
          <a:bodyPr anchor="b">
            <a:normAutofit/>
          </a:bodyPr>
          <a:lstStyle/>
          <a:p>
            <a:r>
              <a:rPr lang="en-US" dirty="0"/>
              <a:t>Julio Cesar Aldana Almanza</a:t>
            </a:r>
          </a:p>
        </p:txBody>
      </p:sp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F021C-3CEB-0FBA-DA89-C9C82E741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 anchorCtr="0"/>
          <a:lstStyle/>
          <a:p>
            <a:r>
              <a:rPr lang="en-US" dirty="0"/>
              <a:t>Agenda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6746B3-AFD9-641E-7CBF-9A783646B368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014127" y="3429000"/>
            <a:ext cx="3855236" cy="2378075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Architecture Overview</a:t>
            </a:r>
          </a:p>
          <a:p>
            <a:r>
              <a:rPr lang="en-US" dirty="0"/>
              <a:t>Instrumentation &amp; Monitoring</a:t>
            </a:r>
          </a:p>
          <a:p>
            <a:r>
              <a:rPr lang="en-US" dirty="0"/>
              <a:t>Challenges &amp; Solutions</a:t>
            </a:r>
          </a:p>
          <a:p>
            <a:r>
              <a:rPr lang="en-US" dirty="0"/>
              <a:t>Learnings &amp; Improvements</a:t>
            </a:r>
          </a:p>
          <a:p>
            <a:r>
              <a:rPr lang="en-US" dirty="0"/>
              <a:t>Live Demo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59569-83D5-A20B-653C-B9D6C8D98164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485080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2A73C-F597-27B7-8F29-D6406DC4D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/>
              <a:t>Three-Tier 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90503-C2C6-37F4-4636-9B4A8A3DE4EB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n-US" dirty="0"/>
              <a:t>Infrastructure as Code</a:t>
            </a:r>
          </a:p>
        </p:txBody>
      </p:sp>
    </p:spTree>
    <p:extLst>
      <p:ext uri="{BB962C8B-B14F-4D97-AF65-F5344CB8AC3E}">
        <p14:creationId xmlns:p14="http://schemas.microsoft.com/office/powerpoint/2010/main" val="3530111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782CA-FA12-1472-7AAF-35E217470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D4419-38A3-608A-8ACA-ED8C39C2B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779" y="3016390"/>
            <a:ext cx="3102427" cy="1547446"/>
          </a:xfrm>
          <a:noFill/>
        </p:spPr>
        <p:txBody>
          <a:bodyPr anchor="t" anchorCtr="0">
            <a:noAutofit/>
          </a:bodyPr>
          <a:lstStyle/>
          <a:p>
            <a:r>
              <a:rPr lang="en-US" sz="2800" dirty="0"/>
              <a:t>Three-Tier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159449-18EC-7C50-DDCE-160B3BF37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4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F0C91D6-7987-3C99-D736-02D603F920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38339" y="916197"/>
            <a:ext cx="8355830" cy="5025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31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073729"/>
            <a:ext cx="9209314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Network strategy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889203"/>
            <a:ext cx="4188279" cy="3511279"/>
          </a:xfrm>
          <a:noFill/>
        </p:spPr>
        <p:txBody>
          <a:bodyPr>
            <a:normAutofit/>
          </a:bodyPr>
          <a:lstStyle/>
          <a:p>
            <a:r>
              <a:rPr lang="en-US" dirty="0"/>
              <a:t>VPC: 10.0.0.0/16</a:t>
            </a:r>
          </a:p>
          <a:p>
            <a:r>
              <a:rPr lang="en-US" dirty="0"/>
              <a:t>Presentation Subnets (Public</a:t>
            </a:r>
          </a:p>
          <a:p>
            <a:r>
              <a:rPr lang="en-US" dirty="0"/>
              <a:t>Application Subnets (Private):</a:t>
            </a:r>
          </a:p>
          <a:p>
            <a:r>
              <a:rPr lang="en-US" dirty="0"/>
              <a:t>Data Subnets (Private): </a:t>
            </a:r>
          </a:p>
          <a:p>
            <a:r>
              <a:rPr lang="en-US" dirty="0"/>
              <a:t>VPC Endpoints for:</a:t>
            </a:r>
          </a:p>
          <a:p>
            <a:pPr lvl="1"/>
            <a:r>
              <a:rPr lang="en-US" dirty="0"/>
              <a:t>AWS Session Manager</a:t>
            </a:r>
          </a:p>
          <a:p>
            <a:pPr lvl="1"/>
            <a:r>
              <a:rPr lang="en-US" dirty="0"/>
              <a:t>Database communication</a:t>
            </a:r>
          </a:p>
          <a:p>
            <a:r>
              <a:rPr lang="en-US" dirty="0"/>
              <a:t>ALB with Auto-Scaling Group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4AF3B-CC38-C6F7-1058-2FC5EE48D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5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9C18A8-F09E-A550-DB44-0FB20F8B6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5608" y="1883829"/>
            <a:ext cx="3457055" cy="4334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4054A-AC0C-33E9-EF0A-99E955DFB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AD4F3-359D-8F9C-C0A5-59825D732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073729"/>
            <a:ext cx="9209314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Instrumentation &amp; Monitoring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BF529-F62C-72CB-1363-944D8D41D4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938506"/>
            <a:ext cx="4188279" cy="3511279"/>
          </a:xfrm>
          <a:noFill/>
        </p:spPr>
        <p:txBody>
          <a:bodyPr>
            <a:normAutofit fontScale="92500" lnSpcReduction="10000"/>
          </a:bodyPr>
          <a:lstStyle/>
          <a:p>
            <a:r>
              <a:rPr lang="en-US" dirty="0"/>
              <a:t>CloudWatch Agent – Metrics send by application</a:t>
            </a:r>
          </a:p>
          <a:p>
            <a:r>
              <a:rPr lang="en-US" dirty="0"/>
              <a:t>Alerting System</a:t>
            </a:r>
          </a:p>
          <a:p>
            <a:pPr lvl="1"/>
            <a:r>
              <a:rPr lang="en-US" dirty="0"/>
              <a:t>CPU Usage (Threshold &gt; 80%)</a:t>
            </a:r>
          </a:p>
          <a:p>
            <a:pPr lvl="1"/>
            <a:r>
              <a:rPr lang="en-US" dirty="0"/>
              <a:t>Application Error Rate</a:t>
            </a:r>
          </a:p>
          <a:p>
            <a:pPr lvl="1"/>
            <a:r>
              <a:rPr lang="en-US" dirty="0"/>
              <a:t>Application Load Balancer Response Time</a:t>
            </a:r>
          </a:p>
          <a:p>
            <a:r>
              <a:rPr lang="en-US" dirty="0"/>
              <a:t>Dashboards: </a:t>
            </a:r>
          </a:p>
          <a:p>
            <a:pPr lvl="1"/>
            <a:r>
              <a:rPr lang="en-US" dirty="0"/>
              <a:t>Technical Dashboard</a:t>
            </a:r>
          </a:p>
          <a:p>
            <a:pPr lvl="1"/>
            <a:r>
              <a:rPr lang="en-US" dirty="0"/>
              <a:t>Business Dashboard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EA005-471C-0BF7-41FD-BC881A357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3B9936D-D055-D245-B52B-729D6928F3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705"/>
          <a:stretch>
            <a:fillRect/>
          </a:stretch>
        </p:blipFill>
        <p:spPr>
          <a:xfrm>
            <a:off x="5595421" y="3223338"/>
            <a:ext cx="5966488" cy="1914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910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72DB3-CE06-F212-2803-50A544827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4655-FC14-BEFA-7320-8852AB150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073729"/>
            <a:ext cx="9209314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Automation with Terraform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78E9A8-B83A-2F27-8996-2ECEEABF9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938506"/>
            <a:ext cx="4188279" cy="3511279"/>
          </a:xfrm>
          <a:noFill/>
        </p:spPr>
        <p:txBody>
          <a:bodyPr>
            <a:normAutofit/>
          </a:bodyPr>
          <a:lstStyle/>
          <a:p>
            <a:r>
              <a:rPr lang="en-US" dirty="0" err="1"/>
              <a:t>IaC</a:t>
            </a:r>
            <a:r>
              <a:rPr lang="en-US" dirty="0"/>
              <a:t>: Modular approach. </a:t>
            </a:r>
          </a:p>
          <a:p>
            <a:r>
              <a:rPr lang="en-US" dirty="0"/>
              <a:t>CI/CD Pipeline for planning and building architecture</a:t>
            </a:r>
          </a:p>
          <a:p>
            <a:r>
              <a:rPr lang="en-US" dirty="0"/>
              <a:t>Drift Detection Workflow</a:t>
            </a:r>
          </a:p>
          <a:p>
            <a:r>
              <a:rPr lang="en-US" dirty="0"/>
              <a:t>Security scanning with </a:t>
            </a:r>
            <a:r>
              <a:rPr lang="en-US" dirty="0" err="1"/>
              <a:t>tfsec</a:t>
            </a:r>
            <a:r>
              <a:rPr lang="en-US" dirty="0"/>
              <a:t> and </a:t>
            </a:r>
            <a:r>
              <a:rPr lang="en-US" dirty="0" err="1"/>
              <a:t>Trivy</a:t>
            </a:r>
            <a:r>
              <a:rPr lang="en-US" dirty="0"/>
              <a:t>. </a:t>
            </a:r>
          </a:p>
          <a:p>
            <a:r>
              <a:rPr lang="en-US" dirty="0"/>
              <a:t>Testing with </a:t>
            </a:r>
            <a:r>
              <a:rPr lang="en-US" dirty="0" err="1"/>
              <a:t>Terratest</a:t>
            </a:r>
            <a:r>
              <a:rPr lang="en-US" dirty="0"/>
              <a:t>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384EC7-AA75-A442-94D8-332D05A07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7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601269-B0EF-62D1-B677-036EBC997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5624" y="2126785"/>
            <a:ext cx="1774468" cy="409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145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A61EC-5F42-6AB8-DF35-480F07028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382" y="2220686"/>
            <a:ext cx="4845817" cy="3722914"/>
          </a:xfrm>
        </p:spPr>
        <p:txBody>
          <a:bodyPr lIns="0" anchor="t" anchorCtr="0"/>
          <a:lstStyle/>
          <a:p>
            <a:r>
              <a:rPr lang="en-US" dirty="0"/>
              <a:t>Challenges &amp; Solutions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2C499B3D-83D7-93D8-87CB-D304865A3244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2"/>
          <a:srcRect l="21800" r="21800"/>
          <a:stretch>
            <a:fillRect/>
          </a:stretch>
        </p:blipFill>
        <p:spPr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735087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2D4E9-4507-EF59-FBCB-4E9C029C2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27A89-0553-DEF3-7EC7-6FEBD04FC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073729"/>
            <a:ext cx="9209314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Challenges &amp; Solutions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86E969-5B29-A319-2EBD-43144778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9</a:t>
            </a:fld>
            <a:endParaRPr lang="en-US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30FCF12F-D888-4980-3630-C32F3B89306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8032762"/>
              </p:ext>
            </p:extLst>
          </p:nvPr>
        </p:nvGraphicFramePr>
        <p:xfrm>
          <a:off x="1195753" y="3044988"/>
          <a:ext cx="9998416" cy="293116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4999208">
                  <a:extLst>
                    <a:ext uri="{9D8B030D-6E8A-4147-A177-3AD203B41FA5}">
                      <a16:colId xmlns:a16="http://schemas.microsoft.com/office/drawing/2014/main" val="1392984329"/>
                    </a:ext>
                  </a:extLst>
                </a:gridCol>
                <a:gridCol w="4999208">
                  <a:extLst>
                    <a:ext uri="{9D8B030D-6E8A-4147-A177-3AD203B41FA5}">
                      <a16:colId xmlns:a16="http://schemas.microsoft.com/office/drawing/2014/main" val="31745443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Challenges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Solution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2776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Extend application caused overhead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Limit application scope, use more powerful AI tools as helpers.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69571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Custom metrics collection 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Call CloudWatch agent inside the application to send the metrics directly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7364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Switching between instances due to ALB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Connect Instances to a DynamoDB table and collect/store data (Single Source of Truth)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2165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Troubleshooting application in complex networking infrastructure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Creation of a testing instance, app installation from s3 bucket.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3158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2430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45B99-C486-0D5A-266B-63FD9A566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1ADAA-FCDF-139A-FB6A-84908BACF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382" y="2220686"/>
            <a:ext cx="4845817" cy="3722914"/>
          </a:xfrm>
        </p:spPr>
        <p:txBody>
          <a:bodyPr lIns="0" anchor="t" anchorCtr="0"/>
          <a:lstStyle/>
          <a:p>
            <a:r>
              <a:rPr lang="en-US" dirty="0"/>
              <a:t>Learnings &amp; Improvements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9A9C721F-1150-07F1-5557-B606079EC7B1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2"/>
          <a:srcRect l="17500" r="17500"/>
          <a:stretch>
            <a:fillRect/>
          </a:stretch>
        </p:blipFill>
        <p:spPr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699809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932CA-B4BF-DF3D-BF05-AC797E94B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6F98315-F512-E3B6-FA1C-57C30F949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571500"/>
            <a:ext cx="7955280" cy="767443"/>
          </a:xfrm>
        </p:spPr>
        <p:txBody>
          <a:bodyPr anchor="b" anchorCtr="0"/>
          <a:lstStyle/>
          <a:p>
            <a:r>
              <a:rPr lang="en-US" dirty="0"/>
              <a:t>Learnings &amp; Improvements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493B2DD-703A-2F23-608B-828164B7173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5" y="1502229"/>
            <a:ext cx="3568271" cy="47156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Learnings</a:t>
            </a:r>
            <a:endParaRPr lang="en-US" b="1" dirty="0"/>
          </a:p>
          <a:p>
            <a:r>
              <a:rPr lang="en-US" dirty="0"/>
              <a:t>Create complete Networking Infrastructure using modular approach with terraform</a:t>
            </a:r>
          </a:p>
          <a:p>
            <a:r>
              <a:rPr lang="en-US" dirty="0"/>
              <a:t>Create a portable application that handles requests using information from database</a:t>
            </a:r>
          </a:p>
          <a:p>
            <a:r>
              <a:rPr lang="en-US" dirty="0"/>
              <a:t>Select the best approach for metrics creation and collection. </a:t>
            </a:r>
          </a:p>
          <a:p>
            <a:r>
              <a:rPr lang="en-US" dirty="0"/>
              <a:t>Use Security tools to generate findings and establish compliance.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33E52F-6E5C-AC89-AD3D-9EDCF215CA44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>
          <a:xfrm>
            <a:off x="11194169" y="6217920"/>
            <a:ext cx="458592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11</a:t>
            </a:fld>
            <a:endParaRPr lang="en-US" altLang="zh-CN" noProof="0" dirty="0"/>
          </a:p>
        </p:txBody>
      </p:sp>
      <p:sp>
        <p:nvSpPr>
          <p:cNvPr id="15" name="Slide Number Placeholder 13">
            <a:extLst>
              <a:ext uri="{FF2B5EF4-FFF2-40B4-BE49-F238E27FC236}">
                <a16:creationId xmlns:a16="http://schemas.microsoft.com/office/drawing/2014/main" id="{69DEFAC5-91A3-28CF-C7CB-29DE8D6C77A6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8AC965CD-806B-771E-A059-A6EAFDB30C8A}"/>
              </a:ext>
            </a:extLst>
          </p:cNvPr>
          <p:cNvSpPr txBox="1">
            <a:spLocks/>
          </p:cNvSpPr>
          <p:nvPr/>
        </p:nvSpPr>
        <p:spPr>
          <a:xfrm>
            <a:off x="7625898" y="1497719"/>
            <a:ext cx="3568271" cy="4715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512064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rabi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109728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lphaL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64592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romanL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219456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rabicParenR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+mj-lt"/>
              <a:buNone/>
            </a:pPr>
            <a:r>
              <a:rPr lang="en-US" sz="2200" b="1" dirty="0"/>
              <a:t>Improvements</a:t>
            </a:r>
          </a:p>
          <a:p>
            <a:r>
              <a:rPr lang="en-US" dirty="0"/>
              <a:t>Eliminate wildcards from policies (target specific resources)</a:t>
            </a:r>
          </a:p>
          <a:p>
            <a:r>
              <a:rPr lang="en-US" dirty="0"/>
              <a:t>Get ACM Certificate and enable secure HTTP protocol. </a:t>
            </a:r>
          </a:p>
          <a:p>
            <a:r>
              <a:rPr lang="en-US" dirty="0"/>
              <a:t>Remove unrestricted egress from security groups. </a:t>
            </a:r>
          </a:p>
          <a:p>
            <a:r>
              <a:rPr lang="en-US" dirty="0"/>
              <a:t>Enable WAF Protection to prevent ALB to be attacked. </a:t>
            </a:r>
          </a:p>
          <a:p>
            <a:r>
              <a:rPr lang="en-US" dirty="0"/>
              <a:t>Revisit terraform code for unused resources. </a:t>
            </a:r>
          </a:p>
        </p:txBody>
      </p:sp>
    </p:spTree>
    <p:extLst>
      <p:ext uri="{BB962C8B-B14F-4D97-AF65-F5344CB8AC3E}">
        <p14:creationId xmlns:p14="http://schemas.microsoft.com/office/powerpoint/2010/main" val="35128893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97D6C-2B37-B9EF-D552-22C2B7994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067A5-FA5B-84D0-78B4-35C2DF718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</p:spPr>
        <p:txBody>
          <a:bodyPr/>
          <a:lstStyle/>
          <a:p>
            <a:r>
              <a:rPr lang="en-US" dirty="0"/>
              <a:t>Live Demo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1AD50C07-1EA2-EBD3-7FBF-A7F33819D3BB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2"/>
          <a:srcRect l="19133" r="19133"/>
          <a:stretch>
            <a:fillRect/>
          </a:stretch>
        </p:blipFill>
        <p:spPr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103168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99847-318E-595A-0434-1BFC2EC90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12C2E6C-7E9E-DBAE-2AB4-1A4C4E1F3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72" y="610326"/>
            <a:ext cx="11811455" cy="5455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7970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9C723-0C99-3302-82EA-1F7E3D6E3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0486008-2534-4174-F559-213945677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60858"/>
            <a:ext cx="11620500" cy="5316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3360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E1199-8587-8D56-417B-B090804E8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AAC795-770D-5B70-786B-477EF204AC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3" y="685417"/>
            <a:ext cx="12060333" cy="5487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4570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11290-8EC0-312C-D9DF-FCBA73516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70C7ED-B2B7-1F4D-F5F8-7623280F9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77" y="1583902"/>
            <a:ext cx="11693979" cy="3690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7743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6655F-266F-392E-3132-1F6021FF9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D7D0B-B013-B95B-C6DD-C9BCB763B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7204" y="2041071"/>
            <a:ext cx="1577591" cy="2775857"/>
          </a:xfrm>
        </p:spPr>
        <p:txBody>
          <a:bodyPr/>
          <a:lstStyle/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2865962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B993E4D5-4AD0-4740-096D-6822944C8FF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</p:spPr>
        <p:txBody>
          <a:bodyPr/>
          <a:lstStyle/>
          <a:p>
            <a:r>
              <a:rPr lang="en-US" dirty="0"/>
              <a:t>Julio Cesar Aldana Almanza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6">
      <a:majorFont>
        <a:latin typeface="Posterama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9027928_win32_EF_v4" id="{FA821E7E-D625-4DCD-A30E-3216B54C8383}" vid="{DE28BE6C-8054-44B2-A92D-A1CAFC256BDB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9897CAE-455D-42C9-A951-0C21BC1225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8DB3C62-858A-4A01-AFEF-21E0BB8CE26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{7BEB8980-4EAD-439C-A342-2CA3C506FA36}TF63aebcec-8e39-4664-940a-dd6c2f00c54d020a9832_win32-3cdd3ee32610</Template>
  <TotalTime>144</TotalTime>
  <Words>314</Words>
  <Application>Microsoft Office PowerPoint</Application>
  <PresentationFormat>Widescreen</PresentationFormat>
  <Paragraphs>75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等线</vt:lpstr>
      <vt:lpstr>Abadi</vt:lpstr>
      <vt:lpstr>Arial</vt:lpstr>
      <vt:lpstr>Calibri</vt:lpstr>
      <vt:lpstr>Posterama</vt:lpstr>
      <vt:lpstr>Posterama Text SemiBold</vt:lpstr>
      <vt:lpstr>Custom</vt:lpstr>
      <vt:lpstr>Capstone Project</vt:lpstr>
      <vt:lpstr>Agenda </vt:lpstr>
      <vt:lpstr>Three-Tier Architecture</vt:lpstr>
      <vt:lpstr>Three-Tier Architecture</vt:lpstr>
      <vt:lpstr>Network strategy </vt:lpstr>
      <vt:lpstr>Instrumentation &amp; Monitoring</vt:lpstr>
      <vt:lpstr>Automation with Terraform</vt:lpstr>
      <vt:lpstr>Challenges &amp; Solutions</vt:lpstr>
      <vt:lpstr>Challenges &amp; Solutions</vt:lpstr>
      <vt:lpstr>Learnings &amp; Improvements</vt:lpstr>
      <vt:lpstr>Learnings &amp; Improvements</vt:lpstr>
      <vt:lpstr>Live Demo</vt:lpstr>
      <vt:lpstr>PowerPoint Presentation</vt:lpstr>
      <vt:lpstr>PowerPoint Presentation</vt:lpstr>
      <vt:lpstr>PowerPoint Presentation</vt:lpstr>
      <vt:lpstr>PowerPoint Presentation</vt:lpstr>
      <vt:lpstr>Q&amp;A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OSCAR ALEXIS ALDANA ALMANZA</dc:creator>
  <cp:lastModifiedBy>OSCAR ALEXIS ALDANA ALMANZA</cp:lastModifiedBy>
  <cp:revision>11</cp:revision>
  <dcterms:created xsi:type="dcterms:W3CDTF">2026-07-25T15:37:27Z</dcterms:created>
  <dcterms:modified xsi:type="dcterms:W3CDTF">2026-09-03T17:20:24Z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