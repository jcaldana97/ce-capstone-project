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92" r:id="rId5"/>
    <p:sldId id="299" r:id="rId6"/>
    <p:sldId id="297" r:id="rId7"/>
    <p:sldId id="302" r:id="rId8"/>
    <p:sldId id="261" r:id="rId9"/>
    <p:sldId id="312" r:id="rId10"/>
    <p:sldId id="313" r:id="rId11"/>
    <p:sldId id="298" r:id="rId12"/>
    <p:sldId id="314" r:id="rId13"/>
    <p:sldId id="308" r:id="rId14"/>
    <p:sldId id="309" r:id="rId15"/>
    <p:sldId id="310" r:id="rId16"/>
    <p:sldId id="317" r:id="rId17"/>
    <p:sldId id="320" r:id="rId18"/>
    <p:sldId id="321" r:id="rId19"/>
    <p:sldId id="319" r:id="rId20"/>
    <p:sldId id="318" r:id="rId21"/>
    <p:sldId id="315" r:id="rId22"/>
    <p:sldId id="322" r:id="rId23"/>
    <p:sldId id="311" r:id="rId24"/>
    <p:sldId id="28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839" autoAdjust="0"/>
  </p:normalViewPr>
  <p:slideViewPr>
    <p:cSldViewPr snapToGrid="0" showGuides="1">
      <p:cViewPr varScale="1">
        <p:scale>
          <a:sx n="91" d="100"/>
          <a:sy n="91" d="100"/>
        </p:scale>
        <p:origin x="182" y="5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E773-CF0A-131A-8BAA-2490120B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28F81-509F-7109-6486-351AEA8A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F4146-ED39-39E1-2E15-F69F396F2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D290-8C6F-F645-1867-694962F36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55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358284" cy="2743200"/>
          </a:xfrm>
        </p:spPr>
        <p:txBody>
          <a:bodyPr lIns="0" anchor="t" anchorCtr="0">
            <a:normAutofit/>
          </a:bodyPr>
          <a:lstStyle/>
          <a:p>
            <a:r>
              <a:rPr lang="en-US" altLang="zh-CN" dirty="0"/>
              <a:t>Capstone Project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C0CA6A3-5752-AD04-9C71-D3E8462A5932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34777" r="32444"/>
          <a:stretch>
            <a:fillRect/>
          </a:stretch>
        </p:blipFill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>
            <a:normAutofit/>
          </a:bodyPr>
          <a:lstStyle/>
          <a:p>
            <a:r>
              <a:rPr lang="en-US" dirty="0"/>
              <a:t>Julio Cesar Aldana Almanza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014127" y="3429000"/>
            <a:ext cx="3855236" cy="2378075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Architecture Overview</a:t>
            </a:r>
          </a:p>
          <a:p>
            <a:r>
              <a:rPr lang="en-US" dirty="0"/>
              <a:t>Instrumentation &amp; Monitoring</a:t>
            </a:r>
          </a:p>
          <a:p>
            <a:r>
              <a:rPr lang="en-US" dirty="0"/>
              <a:t>Challenges &amp; Solutions</a:t>
            </a:r>
          </a:p>
          <a:p>
            <a:r>
              <a:rPr lang="en-US" dirty="0"/>
              <a:t>Learnings &amp; Improvements</a:t>
            </a:r>
          </a:p>
          <a:p>
            <a:r>
              <a:rPr lang="en-US" dirty="0"/>
              <a:t>Live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Three-Tier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Infrastructure as Code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82CA-FA12-1472-7AAF-35E21747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4419-38A3-608A-8ACA-ED8C39C2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79" y="3016390"/>
            <a:ext cx="3102427" cy="1547446"/>
          </a:xfrm>
          <a:noFill/>
        </p:spPr>
        <p:txBody>
          <a:bodyPr anchor="t" anchorCtr="0">
            <a:noAutofit/>
          </a:bodyPr>
          <a:lstStyle/>
          <a:p>
            <a:r>
              <a:rPr lang="en-US" sz="2800" dirty="0"/>
              <a:t>Three-Tier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59449-18EC-7C50-DDCE-160B3BF3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0C91D6-7987-3C99-D736-02D603F92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339" y="916197"/>
            <a:ext cx="8355830" cy="50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3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9209314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Network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89203"/>
            <a:ext cx="4188279" cy="3511279"/>
          </a:xfrm>
          <a:noFill/>
        </p:spPr>
        <p:txBody>
          <a:bodyPr>
            <a:normAutofit/>
          </a:bodyPr>
          <a:lstStyle/>
          <a:p>
            <a:r>
              <a:rPr lang="en-US" dirty="0"/>
              <a:t>VPC: 10.0.0.0/16</a:t>
            </a:r>
          </a:p>
          <a:p>
            <a:r>
              <a:rPr lang="en-US" dirty="0"/>
              <a:t>Presentation Subnets (Public)</a:t>
            </a:r>
          </a:p>
          <a:p>
            <a:r>
              <a:rPr lang="en-US" dirty="0"/>
              <a:t>Application Subnets (Private)</a:t>
            </a:r>
          </a:p>
          <a:p>
            <a:r>
              <a:rPr lang="en-US" dirty="0"/>
              <a:t>Data Subnets (Private) </a:t>
            </a:r>
          </a:p>
          <a:p>
            <a:r>
              <a:rPr lang="en-US" dirty="0"/>
              <a:t>VPC Endpoints for:</a:t>
            </a:r>
          </a:p>
          <a:p>
            <a:pPr lvl="1"/>
            <a:r>
              <a:rPr lang="en-US" dirty="0"/>
              <a:t>AWS Session Manager</a:t>
            </a:r>
          </a:p>
          <a:p>
            <a:pPr lvl="1"/>
            <a:r>
              <a:rPr lang="en-US" dirty="0"/>
              <a:t>Database communication</a:t>
            </a:r>
          </a:p>
          <a:p>
            <a:r>
              <a:rPr lang="en-US" dirty="0"/>
              <a:t>ALB with Auto-Scaling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9C18A8-F09E-A550-DB44-0FB20F8B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608" y="1883829"/>
            <a:ext cx="3457055" cy="433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054A-AC0C-33E9-EF0A-99E955DF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D4F3-359D-8F9C-C0A5-59825D732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9209314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Instrumentation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F529-F62C-72CB-1363-944D8D41D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938506"/>
            <a:ext cx="4188279" cy="3511279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dirty="0"/>
              <a:t>CloudWatch Agent – Metrics send by application</a:t>
            </a:r>
          </a:p>
          <a:p>
            <a:r>
              <a:rPr lang="en-US" dirty="0"/>
              <a:t>Alerting System</a:t>
            </a:r>
          </a:p>
          <a:p>
            <a:pPr lvl="1"/>
            <a:r>
              <a:rPr lang="en-US" dirty="0"/>
              <a:t>CPU Usage (Threshold &gt; 70%)</a:t>
            </a:r>
          </a:p>
          <a:p>
            <a:pPr lvl="1"/>
            <a:r>
              <a:rPr lang="en-US" dirty="0"/>
              <a:t>Application Error Rate</a:t>
            </a:r>
          </a:p>
          <a:p>
            <a:pPr lvl="1"/>
            <a:r>
              <a:rPr lang="en-US" dirty="0"/>
              <a:t>Unhealthy targets</a:t>
            </a:r>
          </a:p>
          <a:p>
            <a:r>
              <a:rPr lang="en-US" dirty="0"/>
              <a:t>Dashboards: </a:t>
            </a:r>
          </a:p>
          <a:p>
            <a:pPr lvl="1"/>
            <a:r>
              <a:rPr lang="en-US" dirty="0"/>
              <a:t>Technical Dashboard</a:t>
            </a:r>
          </a:p>
          <a:p>
            <a:pPr lvl="1"/>
            <a:r>
              <a:rPr lang="en-US" dirty="0"/>
              <a:t>Business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EA005-471C-0BF7-41FD-BC881A35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9936D-D055-D245-B52B-729D6928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05"/>
          <a:stretch>
            <a:fillRect/>
          </a:stretch>
        </p:blipFill>
        <p:spPr>
          <a:xfrm>
            <a:off x="5595421" y="3223338"/>
            <a:ext cx="5966488" cy="191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1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2DB3-CE06-F212-2803-50A544827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4655-FC14-BEFA-7320-8852AB15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9209314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Automation with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E9A8-B83A-2F27-8996-2ECEEABF9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938506"/>
            <a:ext cx="4188279" cy="3511279"/>
          </a:xfrm>
          <a:noFill/>
        </p:spPr>
        <p:txBody>
          <a:bodyPr>
            <a:normAutofit/>
          </a:bodyPr>
          <a:lstStyle/>
          <a:p>
            <a:r>
              <a:rPr lang="en-US" dirty="0" err="1"/>
              <a:t>IaC</a:t>
            </a:r>
            <a:r>
              <a:rPr lang="en-US" dirty="0"/>
              <a:t>: Modular approach. </a:t>
            </a:r>
          </a:p>
          <a:p>
            <a:r>
              <a:rPr lang="en-US" dirty="0"/>
              <a:t>CI/CD Pipeline for planning and building architecture</a:t>
            </a:r>
          </a:p>
          <a:p>
            <a:r>
              <a:rPr lang="en-US" dirty="0"/>
              <a:t>Drift Detection Workflow</a:t>
            </a:r>
          </a:p>
          <a:p>
            <a:r>
              <a:rPr lang="en-US" dirty="0"/>
              <a:t>Security scanning with </a:t>
            </a:r>
            <a:r>
              <a:rPr lang="en-US" dirty="0" err="1"/>
              <a:t>tfsec</a:t>
            </a:r>
            <a:r>
              <a:rPr lang="en-US" dirty="0"/>
              <a:t> and </a:t>
            </a:r>
            <a:r>
              <a:rPr lang="en-US" dirty="0" err="1"/>
              <a:t>Trivy</a:t>
            </a:r>
            <a:r>
              <a:rPr lang="en-US" dirty="0"/>
              <a:t>. </a:t>
            </a:r>
          </a:p>
          <a:p>
            <a:r>
              <a:rPr lang="en-US" dirty="0"/>
              <a:t>Testing with </a:t>
            </a:r>
            <a:r>
              <a:rPr lang="en-US" dirty="0" err="1"/>
              <a:t>Terratest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84EC7-AA75-A442-94D8-332D05A0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01269-B0EF-62D1-B677-036EBC99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624" y="2126785"/>
            <a:ext cx="1774468" cy="4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4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382" y="2220686"/>
            <a:ext cx="4845817" cy="3722914"/>
          </a:xfrm>
        </p:spPr>
        <p:txBody>
          <a:bodyPr lIns="0" anchor="t" anchorCtr="0"/>
          <a:lstStyle/>
          <a:p>
            <a:r>
              <a:rPr lang="en-US" dirty="0"/>
              <a:t>Challenges &amp; Solutions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C499B3D-83D7-93D8-87CB-D304865A3244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21800" r="2180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2D4E9-4507-EF59-FBCB-4E9C029C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7A89-0553-DEF3-7EC7-6FEBD04F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9209314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6E969-5B29-A319-2EBD-43144778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0FCF12F-D888-4980-3630-C32F3B893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032762"/>
              </p:ext>
            </p:extLst>
          </p:nvPr>
        </p:nvGraphicFramePr>
        <p:xfrm>
          <a:off x="1195753" y="3044988"/>
          <a:ext cx="9998416" cy="29311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999208">
                  <a:extLst>
                    <a:ext uri="{9D8B030D-6E8A-4147-A177-3AD203B41FA5}">
                      <a16:colId xmlns:a16="http://schemas.microsoft.com/office/drawing/2014/main" val="1392984329"/>
                    </a:ext>
                  </a:extLst>
                </a:gridCol>
                <a:gridCol w="4999208">
                  <a:extLst>
                    <a:ext uri="{9D8B030D-6E8A-4147-A177-3AD203B41FA5}">
                      <a16:colId xmlns:a16="http://schemas.microsoft.com/office/drawing/2014/main" val="317454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77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Extend application caused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 application scope, use more powerful AI tools as helpers.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 metrics collection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CloudWatch agent inside the application to send the metrics directly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6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Switching between instances due to ALB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 Instances to a DynamoDB table and collect/store data (Single Source of Truth)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16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Troubleshooting application in complex networking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Creation of a testing instance, app installation from s3 bucket.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1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43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5B99-C486-0D5A-266B-63FD9A5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ADAA-FCDF-139A-FB6A-84908BAC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382" y="2220686"/>
            <a:ext cx="4845817" cy="3722914"/>
          </a:xfrm>
        </p:spPr>
        <p:txBody>
          <a:bodyPr lIns="0" anchor="t" anchorCtr="0"/>
          <a:lstStyle/>
          <a:p>
            <a:r>
              <a:rPr lang="en-US" dirty="0"/>
              <a:t>Learnings &amp; Improvements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A9C721F-1150-07F1-5557-B606079EC7B1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7500" r="1750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980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32CA-B4BF-DF3D-BF05-AC797E94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6F98315-F512-E3B6-FA1C-57C30F94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571500"/>
            <a:ext cx="7955280" cy="767443"/>
          </a:xfrm>
        </p:spPr>
        <p:txBody>
          <a:bodyPr anchor="b" anchorCtr="0"/>
          <a:lstStyle/>
          <a:p>
            <a:r>
              <a:rPr lang="en-US" dirty="0"/>
              <a:t>Learnings &amp; Improvements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93B2DD-703A-2F23-608B-828164B71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5" y="1502229"/>
            <a:ext cx="3568271" cy="471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Learnings</a:t>
            </a:r>
            <a:endParaRPr lang="en-US" b="1" dirty="0"/>
          </a:p>
          <a:p>
            <a:r>
              <a:rPr lang="en-US" dirty="0"/>
              <a:t>Create complete Networking Infrastructure using modular approach with terraform</a:t>
            </a:r>
          </a:p>
          <a:p>
            <a:r>
              <a:rPr lang="en-US" dirty="0"/>
              <a:t>Create a portable application that handles requests using information from database</a:t>
            </a:r>
          </a:p>
          <a:p>
            <a:r>
              <a:rPr lang="en-US" dirty="0"/>
              <a:t>Select the best approach for metrics creation and collection. </a:t>
            </a:r>
          </a:p>
          <a:p>
            <a:r>
              <a:rPr lang="en-US" dirty="0"/>
              <a:t>Use Security tools to generate findings and establish compliance.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3E52F-6E5C-AC89-AD3D-9EDCF215CA4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11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69DEFAC5-91A3-28CF-C7CB-29DE8D6C77A6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AC965CD-806B-771E-A059-A6EAFDB30C8A}"/>
              </a:ext>
            </a:extLst>
          </p:cNvPr>
          <p:cNvSpPr txBox="1">
            <a:spLocks/>
          </p:cNvSpPr>
          <p:nvPr/>
        </p:nvSpPr>
        <p:spPr>
          <a:xfrm>
            <a:off x="7625898" y="1497719"/>
            <a:ext cx="3568271" cy="4715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09728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64592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9456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sz="2200" b="1" dirty="0"/>
              <a:t>Improvements</a:t>
            </a:r>
          </a:p>
          <a:p>
            <a:r>
              <a:rPr lang="en-US" dirty="0"/>
              <a:t>Implement Workload Optimization. </a:t>
            </a:r>
          </a:p>
          <a:p>
            <a:r>
              <a:rPr lang="en-US" dirty="0"/>
              <a:t>Get ACM Certificate and enable secure HTTP protocol. </a:t>
            </a:r>
          </a:p>
          <a:p>
            <a:r>
              <a:rPr lang="en-US" dirty="0"/>
              <a:t>Further optimization of CI/CD Pipelines. Blue/Green development</a:t>
            </a:r>
          </a:p>
          <a:p>
            <a:r>
              <a:rPr lang="en-US" dirty="0"/>
              <a:t>Enable WAF Protection to prevent ALB to be attacked. </a:t>
            </a:r>
          </a:p>
          <a:p>
            <a:r>
              <a:rPr lang="en-US" dirty="0"/>
              <a:t>Revisit terraform code for unused resources. </a:t>
            </a:r>
          </a:p>
        </p:txBody>
      </p:sp>
    </p:spTree>
    <p:extLst>
      <p:ext uri="{BB962C8B-B14F-4D97-AF65-F5344CB8AC3E}">
        <p14:creationId xmlns:p14="http://schemas.microsoft.com/office/powerpoint/2010/main" val="3512889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D6C-2B37-B9EF-D552-22C2B799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67A5-FA5B-84D0-78B4-35C2DF71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AD50C07-1EA2-EBD3-7FBF-A7F33819D3B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19133" r="19133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031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9C723-0C99-3302-82EA-1F7E3D6E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486008-2534-4174-F559-21394567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60858"/>
            <a:ext cx="11620500" cy="531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36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92DA60-CB65-784B-BC08-B3E65690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111297"/>
            <a:ext cx="9452982" cy="648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4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73463-21A8-283E-9E7D-B856C1B1C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99" y="177506"/>
            <a:ext cx="9700802" cy="65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79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1199-8587-8D56-417B-B090804E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AAC795-770D-5B70-786B-477EF204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685417"/>
            <a:ext cx="12060333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5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1290-8EC0-312C-D9DF-FCBA7351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0C7ED-B2B7-1F4D-F5F8-7623280F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77" y="1583902"/>
            <a:ext cx="11693979" cy="369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74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9847-318E-595A-0434-1BFC2EC9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2C2E6C-7E9E-DBAE-2AB4-1A4C4E1F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2" y="610326"/>
            <a:ext cx="11811455" cy="545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97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6862EC7-992C-1E3C-B65D-4C8A535B7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738"/>
            <a:ext cx="12192000" cy="566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25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655F-266F-392E-3132-1F6021FF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7D0B-B013-B95B-C6DD-C9BCB763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04" y="2041071"/>
            <a:ext cx="1577591" cy="2775857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65962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Julio Cesar Aldana Almanza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{7BEB8980-4EAD-439C-A342-2CA3C506FA36}TF63aebcec-8e39-4664-940a-dd6c2f00c54d020a9832_win32-3cdd3ee32610</Template>
  <TotalTime>461</TotalTime>
  <Words>312</Words>
  <Application>Microsoft Office PowerPoint</Application>
  <PresentationFormat>Widescreen</PresentationFormat>
  <Paragraphs>75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Capstone Project</vt:lpstr>
      <vt:lpstr>Agenda </vt:lpstr>
      <vt:lpstr>Three-Tier Architecture</vt:lpstr>
      <vt:lpstr>Three-Tier Architecture</vt:lpstr>
      <vt:lpstr>Network strategy </vt:lpstr>
      <vt:lpstr>Instrumentation &amp; Monitoring</vt:lpstr>
      <vt:lpstr>Automation with Terraform</vt:lpstr>
      <vt:lpstr>Challenges &amp; Solutions</vt:lpstr>
      <vt:lpstr>Challenges &amp; Solutions</vt:lpstr>
      <vt:lpstr>Learnings &amp; Improvements</vt:lpstr>
      <vt:lpstr>Learnings &amp; Improvements</vt:lpstr>
      <vt:lpstr>Live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ALEXIS ALDANA ALMANZA</dc:creator>
  <cp:lastModifiedBy>OSCAR ALEXIS ALDANA ALMANZA</cp:lastModifiedBy>
  <cp:revision>13</cp:revision>
  <dcterms:created xsi:type="dcterms:W3CDTF">2026-07-25T15:37:27Z</dcterms:created>
  <dcterms:modified xsi:type="dcterms:W3CDTF">2026-09-04T12:52:50Z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